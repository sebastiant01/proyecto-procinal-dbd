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Hagrid Text Bold" panose="020B0604020202020204" charset="0"/>
      <p:regular r:id="rId10"/>
    </p:embeddedFont>
    <p:embeddedFont>
      <p:font typeface="Poppins" panose="00000500000000000000" pitchFamily="2" charset="0"/>
      <p:regular r:id="rId11"/>
    </p:embeddedFont>
    <p:embeddedFont>
      <p:font typeface="Poppins Italics"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3982005" y="3920637"/>
            <a:ext cx="10323990" cy="3311078"/>
          </a:xfrm>
          <a:prstGeom prst="rect">
            <a:avLst/>
          </a:prstGeom>
        </p:spPr>
        <p:txBody>
          <a:bodyPr lIns="0" tIns="0" rIns="0" bIns="0" rtlCol="0" anchor="t">
            <a:spAutoFit/>
          </a:bodyPr>
          <a:lstStyle/>
          <a:p>
            <a:pPr algn="ctr">
              <a:lnSpc>
                <a:spcPts val="5245"/>
              </a:lnSpc>
            </a:pPr>
            <a:r>
              <a:rPr lang="en-US" sz="4035" i="1" spc="-80">
                <a:solidFill>
                  <a:srgbClr val="1A466E"/>
                </a:solidFill>
                <a:latin typeface="Poppins Italics"/>
                <a:ea typeface="Poppins Italics"/>
                <a:cs typeface="Poppins Italics"/>
                <a:sym typeface="Poppins Italics"/>
              </a:rPr>
              <a:t>Santiago Molano Holguin</a:t>
            </a:r>
          </a:p>
          <a:p>
            <a:pPr algn="ctr">
              <a:lnSpc>
                <a:spcPts val="5245"/>
              </a:lnSpc>
            </a:pPr>
            <a:r>
              <a:rPr lang="en-US" sz="4035" i="1" spc="-80">
                <a:solidFill>
                  <a:srgbClr val="1A466E"/>
                </a:solidFill>
                <a:latin typeface="Poppins Italics"/>
                <a:ea typeface="Poppins Italics"/>
                <a:cs typeface="Poppins Italics"/>
                <a:sym typeface="Poppins Italics"/>
              </a:rPr>
              <a:t>Ana Sofía Henao Posada</a:t>
            </a:r>
          </a:p>
          <a:p>
            <a:pPr algn="ctr">
              <a:lnSpc>
                <a:spcPts val="5245"/>
              </a:lnSpc>
            </a:pPr>
            <a:r>
              <a:rPr lang="en-US" sz="4035" i="1" spc="-80">
                <a:solidFill>
                  <a:srgbClr val="1A466E"/>
                </a:solidFill>
                <a:latin typeface="Poppins Italics"/>
                <a:ea typeface="Poppins Italics"/>
                <a:cs typeface="Poppins Italics"/>
                <a:sym typeface="Poppins Italics"/>
              </a:rPr>
              <a:t>Jerónimo Torres Garces</a:t>
            </a:r>
          </a:p>
          <a:p>
            <a:pPr algn="ctr">
              <a:lnSpc>
                <a:spcPts val="5245"/>
              </a:lnSpc>
            </a:pPr>
            <a:r>
              <a:rPr lang="en-US" sz="4035" i="1" spc="-80">
                <a:solidFill>
                  <a:srgbClr val="1A466E"/>
                </a:solidFill>
                <a:latin typeface="Poppins Italics"/>
                <a:ea typeface="Poppins Italics"/>
                <a:cs typeface="Poppins Italics"/>
                <a:sym typeface="Poppins Italics"/>
              </a:rPr>
              <a:t>Santiago Piedrahita Quintero</a:t>
            </a:r>
          </a:p>
          <a:p>
            <a:pPr marL="0" lvl="0" indent="0" algn="ctr">
              <a:lnSpc>
                <a:spcPts val="5245"/>
              </a:lnSpc>
              <a:spcBef>
                <a:spcPct val="0"/>
              </a:spcBef>
            </a:pPr>
            <a:r>
              <a:rPr lang="en-US" sz="4035" i="1" spc="-80">
                <a:solidFill>
                  <a:srgbClr val="1A466E"/>
                </a:solidFill>
                <a:latin typeface="Poppins Italics"/>
                <a:ea typeface="Poppins Italics"/>
                <a:cs typeface="Poppins Italics"/>
                <a:sym typeface="Poppins Italics"/>
              </a:rPr>
              <a:t>Sebastián Hernando Torres Cárdenas</a:t>
            </a:r>
          </a:p>
        </p:txBody>
      </p:sp>
      <p:sp>
        <p:nvSpPr>
          <p:cNvPr id="41" name="TextBox 41"/>
          <p:cNvSpPr txBox="1"/>
          <p:nvPr/>
        </p:nvSpPr>
        <p:spPr>
          <a:xfrm>
            <a:off x="2179679" y="1076325"/>
            <a:ext cx="13928642" cy="1795145"/>
          </a:xfrm>
          <a:prstGeom prst="rect">
            <a:avLst/>
          </a:prstGeom>
        </p:spPr>
        <p:txBody>
          <a:bodyPr lIns="0" tIns="0" rIns="0" bIns="0" rtlCol="0" anchor="t">
            <a:spAutoFit/>
          </a:bodyPr>
          <a:lstStyle/>
          <a:p>
            <a:pPr algn="ctr">
              <a:lnSpc>
                <a:spcPts val="13570"/>
              </a:lnSpc>
            </a:pPr>
            <a:r>
              <a:rPr lang="en-US" sz="11800" b="1" spc="-590">
                <a:solidFill>
                  <a:srgbClr val="1A466E"/>
                </a:solidFill>
                <a:latin typeface="Hagrid Text Bold"/>
                <a:ea typeface="Hagrid Text Bold"/>
                <a:cs typeface="Hagrid Text Bold"/>
                <a:sym typeface="Hagrid Text Bold"/>
              </a:rPr>
              <a:t>PROCINAL</a:t>
            </a:r>
          </a:p>
        </p:txBody>
      </p:sp>
      <p:sp>
        <p:nvSpPr>
          <p:cNvPr id="42" name="TextBox 42"/>
          <p:cNvSpPr txBox="1"/>
          <p:nvPr/>
        </p:nvSpPr>
        <p:spPr>
          <a:xfrm>
            <a:off x="3982005" y="8118430"/>
            <a:ext cx="10323990" cy="1504950"/>
          </a:xfrm>
          <a:prstGeom prst="rect">
            <a:avLst/>
          </a:prstGeom>
        </p:spPr>
        <p:txBody>
          <a:bodyPr lIns="0" tIns="0" rIns="0" bIns="0" rtlCol="0" anchor="t">
            <a:spAutoFit/>
          </a:bodyPr>
          <a:lstStyle/>
          <a:p>
            <a:pPr algn="ctr">
              <a:lnSpc>
                <a:spcPts val="3900"/>
              </a:lnSpc>
            </a:pPr>
            <a:r>
              <a:rPr lang="en-US" sz="3000" i="1" spc="-60">
                <a:solidFill>
                  <a:srgbClr val="1A466E"/>
                </a:solidFill>
                <a:latin typeface="Poppins Italics"/>
                <a:ea typeface="Poppins Italics"/>
                <a:cs typeface="Poppins Italics"/>
                <a:sym typeface="Poppins Italics"/>
              </a:rPr>
              <a:t>Desarrollo de Bases de Datos</a:t>
            </a:r>
          </a:p>
          <a:p>
            <a:pPr algn="ctr">
              <a:lnSpc>
                <a:spcPts val="3900"/>
              </a:lnSpc>
            </a:pPr>
            <a:r>
              <a:rPr lang="en-US" sz="3000" i="1" spc="-60">
                <a:solidFill>
                  <a:srgbClr val="1A466E"/>
                </a:solidFill>
                <a:latin typeface="Poppins Italics"/>
                <a:ea typeface="Poppins Italics"/>
                <a:cs typeface="Poppins Italics"/>
                <a:sym typeface="Poppins Italics"/>
              </a:rPr>
              <a:t>Miguel Antonio Ojeda Enríquez</a:t>
            </a:r>
          </a:p>
          <a:p>
            <a:pPr marL="0" lvl="0" indent="0" algn="ctr">
              <a:lnSpc>
                <a:spcPts val="3900"/>
              </a:lnSpc>
              <a:spcBef>
                <a:spcPct val="0"/>
              </a:spcBef>
            </a:pPr>
            <a:r>
              <a:rPr lang="en-US" sz="3000" i="1" spc="-60">
                <a:solidFill>
                  <a:srgbClr val="1A466E"/>
                </a:solidFill>
                <a:latin typeface="Poppins Italics"/>
                <a:ea typeface="Poppins Italics"/>
                <a:cs typeface="Poppins Italics"/>
                <a:sym typeface="Poppins Italics"/>
              </a:rPr>
              <a:t>2026-1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8512373" y="1190633"/>
            <a:ext cx="6507209"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01. Introducción</a:t>
            </a:r>
          </a:p>
        </p:txBody>
      </p:sp>
      <p:sp>
        <p:nvSpPr>
          <p:cNvPr id="41" name="TextBox 41"/>
          <p:cNvSpPr txBox="1"/>
          <p:nvPr/>
        </p:nvSpPr>
        <p:spPr>
          <a:xfrm>
            <a:off x="8512373" y="5245431"/>
            <a:ext cx="11514179"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04. Reglas de negocio</a:t>
            </a:r>
          </a:p>
        </p:txBody>
      </p:sp>
      <p:sp>
        <p:nvSpPr>
          <p:cNvPr id="42" name="TextBox 42"/>
          <p:cNvSpPr txBox="1"/>
          <p:nvPr/>
        </p:nvSpPr>
        <p:spPr>
          <a:xfrm>
            <a:off x="8512373" y="2578569"/>
            <a:ext cx="11793952"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02. Descripción del caso</a:t>
            </a:r>
          </a:p>
        </p:txBody>
      </p:sp>
      <p:sp>
        <p:nvSpPr>
          <p:cNvPr id="43" name="TextBox 43"/>
          <p:cNvSpPr txBox="1"/>
          <p:nvPr/>
        </p:nvSpPr>
        <p:spPr>
          <a:xfrm>
            <a:off x="8512373" y="6645606"/>
            <a:ext cx="10558834"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05. Modelo Entidad Relación</a:t>
            </a:r>
          </a:p>
        </p:txBody>
      </p:sp>
      <p:sp>
        <p:nvSpPr>
          <p:cNvPr id="44" name="TextBox 44"/>
          <p:cNvSpPr txBox="1"/>
          <p:nvPr/>
        </p:nvSpPr>
        <p:spPr>
          <a:xfrm>
            <a:off x="8512373" y="3911931"/>
            <a:ext cx="11038000"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03. Objetivos del proyecto</a:t>
            </a:r>
          </a:p>
        </p:txBody>
      </p:sp>
      <p:sp>
        <p:nvSpPr>
          <p:cNvPr id="45" name="TextBox 45"/>
          <p:cNvSpPr txBox="1"/>
          <p:nvPr/>
        </p:nvSpPr>
        <p:spPr>
          <a:xfrm>
            <a:off x="2982275" y="4358323"/>
            <a:ext cx="6130317" cy="1408429"/>
          </a:xfrm>
          <a:prstGeom prst="rect">
            <a:avLst/>
          </a:prstGeom>
        </p:spPr>
        <p:txBody>
          <a:bodyPr lIns="0" tIns="0" rIns="0" bIns="0" rtlCol="0" anchor="t">
            <a:spAutoFit/>
          </a:bodyPr>
          <a:lstStyle/>
          <a:p>
            <a:pPr algn="l">
              <a:lnSpc>
                <a:spcPts val="11200"/>
              </a:lnSpc>
              <a:spcBef>
                <a:spcPct val="0"/>
              </a:spcBef>
            </a:pPr>
            <a:r>
              <a:rPr lang="en-US" sz="8000" b="1">
                <a:solidFill>
                  <a:srgbClr val="1A466E"/>
                </a:solidFill>
                <a:latin typeface="Hagrid Text Bold"/>
                <a:ea typeface="Hagrid Text Bold"/>
                <a:cs typeface="Hagrid Text Bold"/>
                <a:sym typeface="Hagrid Text Bold"/>
              </a:rPr>
              <a:t>Índice</a:t>
            </a:r>
          </a:p>
        </p:txBody>
      </p:sp>
      <p:sp>
        <p:nvSpPr>
          <p:cNvPr id="46" name="AutoShape 46"/>
          <p:cNvSpPr/>
          <p:nvPr/>
        </p:nvSpPr>
        <p:spPr>
          <a:xfrm flipV="1">
            <a:off x="7998023" y="1028700"/>
            <a:ext cx="0" cy="8229600"/>
          </a:xfrm>
          <a:prstGeom prst="line">
            <a:avLst/>
          </a:prstGeom>
          <a:ln w="38100" cap="flat">
            <a:solidFill>
              <a:srgbClr val="1A466E"/>
            </a:solidFill>
            <a:prstDash val="solid"/>
            <a:headEnd type="none" w="sm" len="sm"/>
            <a:tailEnd type="none" w="sm" len="sm"/>
          </a:ln>
        </p:spPr>
        <p:txBody>
          <a:bodyPr/>
          <a:lstStyle/>
          <a:p>
            <a:endParaRPr lang="en-US"/>
          </a:p>
        </p:txBody>
      </p:sp>
      <p:sp>
        <p:nvSpPr>
          <p:cNvPr id="47" name="TextBox 47"/>
          <p:cNvSpPr txBox="1"/>
          <p:nvPr/>
        </p:nvSpPr>
        <p:spPr>
          <a:xfrm>
            <a:off x="8512373" y="8045781"/>
            <a:ext cx="10558834" cy="809625"/>
          </a:xfrm>
          <a:prstGeom prst="rect">
            <a:avLst/>
          </a:prstGeom>
        </p:spPr>
        <p:txBody>
          <a:bodyPr lIns="0" tIns="0" rIns="0" bIns="0" rtlCol="0" anchor="t">
            <a:spAutoFit/>
          </a:bodyPr>
          <a:lstStyle/>
          <a:p>
            <a:pPr algn="l">
              <a:lnSpc>
                <a:spcPts val="6299"/>
              </a:lnSpc>
            </a:pPr>
            <a:r>
              <a:rPr lang="en-US" sz="4500">
                <a:solidFill>
                  <a:srgbClr val="1A466E"/>
                </a:solidFill>
                <a:latin typeface="Poppins"/>
                <a:ea typeface="Poppins"/>
                <a:cs typeface="Poppins"/>
                <a:sym typeface="Poppins"/>
              </a:rPr>
              <a:t>06. Modelo Relacional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3247367" y="4286383"/>
            <a:ext cx="10481920" cy="3492770"/>
          </a:xfrm>
          <a:prstGeom prst="rect">
            <a:avLst/>
          </a:prstGeom>
        </p:spPr>
        <p:txBody>
          <a:bodyPr lIns="0" tIns="0" rIns="0" bIns="0" rtlCol="0" anchor="t">
            <a:spAutoFit/>
          </a:bodyPr>
          <a:lstStyle/>
          <a:p>
            <a:pPr algn="l">
              <a:lnSpc>
                <a:spcPts val="4580"/>
              </a:lnSpc>
            </a:pPr>
            <a:r>
              <a:rPr lang="en-US" sz="3271">
                <a:solidFill>
                  <a:srgbClr val="1A466E"/>
                </a:solidFill>
                <a:latin typeface="Poppins"/>
                <a:ea typeface="Poppins"/>
                <a:cs typeface="Poppins"/>
                <a:sym typeface="Poppins"/>
              </a:rPr>
              <a:t>En esta presentación se expondrá el caso que nosotros elegimos para nuestro proyecto, se mostrarán los objetivos y reglas de negocio establecidas para el caso, y el modelo conceptual y lógico que hemos empleado para moldear la</a:t>
            </a:r>
          </a:p>
          <a:p>
            <a:pPr marL="0" lvl="0" indent="0" algn="l">
              <a:lnSpc>
                <a:spcPts val="4580"/>
              </a:lnSpc>
              <a:spcBef>
                <a:spcPct val="0"/>
              </a:spcBef>
            </a:pPr>
            <a:r>
              <a:rPr lang="en-US" sz="3271">
                <a:solidFill>
                  <a:srgbClr val="1A466E"/>
                </a:solidFill>
                <a:latin typeface="Poppins"/>
                <a:ea typeface="Poppins"/>
                <a:cs typeface="Poppins"/>
                <a:sym typeface="Poppins"/>
              </a:rPr>
              <a:t>base de datos.</a:t>
            </a:r>
          </a:p>
        </p:txBody>
      </p:sp>
      <p:sp>
        <p:nvSpPr>
          <p:cNvPr id="41" name="TextBox 41"/>
          <p:cNvSpPr txBox="1"/>
          <p:nvPr/>
        </p:nvSpPr>
        <p:spPr>
          <a:xfrm>
            <a:off x="3247367" y="2562496"/>
            <a:ext cx="11793267" cy="1130296"/>
          </a:xfrm>
          <a:prstGeom prst="rect">
            <a:avLst/>
          </a:prstGeom>
        </p:spPr>
        <p:txBody>
          <a:bodyPr lIns="0" tIns="0" rIns="0" bIns="0" rtlCol="0" anchor="t">
            <a:spAutoFit/>
          </a:bodyPr>
          <a:lstStyle/>
          <a:p>
            <a:pPr marL="0" lvl="0" indent="0" algn="l">
              <a:lnSpc>
                <a:spcPts val="9100"/>
              </a:lnSpc>
              <a:spcBef>
                <a:spcPct val="0"/>
              </a:spcBef>
            </a:pPr>
            <a:r>
              <a:rPr lang="en-US" sz="6500" b="1" u="none" strike="noStrike">
                <a:solidFill>
                  <a:srgbClr val="1A466E"/>
                </a:solidFill>
                <a:latin typeface="Hagrid Text Bold"/>
                <a:ea typeface="Hagrid Text Bold"/>
                <a:cs typeface="Hagrid Text Bold"/>
                <a:sym typeface="Hagrid Text Bold"/>
              </a:rPr>
              <a:t>Introducción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1442518" y="1360392"/>
            <a:ext cx="15402964" cy="1151251"/>
          </a:xfrm>
          <a:prstGeom prst="rect">
            <a:avLst/>
          </a:prstGeom>
        </p:spPr>
        <p:txBody>
          <a:bodyPr lIns="0" tIns="0" rIns="0" bIns="0" rtlCol="0" anchor="t">
            <a:spAutoFit/>
          </a:bodyPr>
          <a:lstStyle/>
          <a:p>
            <a:pPr marL="0" lvl="0" indent="0" algn="ctr">
              <a:lnSpc>
                <a:spcPts val="9100"/>
              </a:lnSpc>
              <a:spcBef>
                <a:spcPct val="0"/>
              </a:spcBef>
            </a:pPr>
            <a:r>
              <a:rPr lang="en-US" sz="6500" b="1">
                <a:solidFill>
                  <a:srgbClr val="1A466E"/>
                </a:solidFill>
                <a:latin typeface="Hagrid Text Bold"/>
                <a:ea typeface="Hagrid Text Bold"/>
                <a:cs typeface="Hagrid Text Bold"/>
                <a:sym typeface="Hagrid Text Bold"/>
              </a:rPr>
              <a:t>Descripción del caso</a:t>
            </a:r>
          </a:p>
        </p:txBody>
      </p:sp>
      <p:sp>
        <p:nvSpPr>
          <p:cNvPr id="41" name="TextBox 41"/>
          <p:cNvSpPr txBox="1"/>
          <p:nvPr/>
        </p:nvSpPr>
        <p:spPr>
          <a:xfrm>
            <a:off x="3393920" y="3795773"/>
            <a:ext cx="11500161" cy="4810124"/>
          </a:xfrm>
          <a:prstGeom prst="rect">
            <a:avLst/>
          </a:prstGeom>
        </p:spPr>
        <p:txBody>
          <a:bodyPr lIns="0" tIns="0" rIns="0" bIns="0" rtlCol="0" anchor="t">
            <a:spAutoFit/>
          </a:bodyPr>
          <a:lstStyle/>
          <a:p>
            <a:pPr marL="0" lvl="0" indent="0" algn="ctr">
              <a:lnSpc>
                <a:spcPts val="4200"/>
              </a:lnSpc>
              <a:spcBef>
                <a:spcPct val="0"/>
              </a:spcBef>
            </a:pPr>
            <a:r>
              <a:rPr lang="en-US" sz="3000">
                <a:solidFill>
                  <a:srgbClr val="1A466E"/>
                </a:solidFill>
                <a:latin typeface="Poppins"/>
                <a:ea typeface="Poppins"/>
                <a:cs typeface="Poppins"/>
                <a:sym typeface="Poppins"/>
              </a:rPr>
              <a:t>PROCINAL, una cadena de cines nacional en expansión enfrenta dificultades para gestionar eficientemente los grandes volúmenes de datos generados por sus operaciones. Como respuesta, la empresa emprende un proceso de modernización que busca centralizar y organizar la información relacionada con sus puntos de venta, salas, empleados y películas, a través de un sistema de información que facilite la consulta estructurada de datos y apoye la toma de decisiones estratégicas.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1827183" y="1544595"/>
            <a:ext cx="14633634" cy="1151251"/>
          </a:xfrm>
          <a:prstGeom prst="rect">
            <a:avLst/>
          </a:prstGeom>
        </p:spPr>
        <p:txBody>
          <a:bodyPr lIns="0" tIns="0" rIns="0" bIns="0" rtlCol="0" anchor="t">
            <a:spAutoFit/>
          </a:bodyPr>
          <a:lstStyle/>
          <a:p>
            <a:pPr marL="0" lvl="0" indent="0" algn="ctr">
              <a:lnSpc>
                <a:spcPts val="9100"/>
              </a:lnSpc>
              <a:spcBef>
                <a:spcPct val="0"/>
              </a:spcBef>
            </a:pPr>
            <a:r>
              <a:rPr lang="en-US" sz="6500" b="1">
                <a:solidFill>
                  <a:srgbClr val="1A466E"/>
                </a:solidFill>
                <a:latin typeface="Hagrid Text Bold"/>
                <a:ea typeface="Hagrid Text Bold"/>
                <a:cs typeface="Hagrid Text Bold"/>
                <a:sym typeface="Hagrid Text Bold"/>
              </a:rPr>
              <a:t>Objetivos del proyecto</a:t>
            </a:r>
          </a:p>
        </p:txBody>
      </p:sp>
      <p:sp>
        <p:nvSpPr>
          <p:cNvPr id="41" name="TextBox 41"/>
          <p:cNvSpPr txBox="1"/>
          <p:nvPr/>
        </p:nvSpPr>
        <p:spPr>
          <a:xfrm>
            <a:off x="2796774" y="3469121"/>
            <a:ext cx="12854435" cy="5343524"/>
          </a:xfrm>
          <a:prstGeom prst="rect">
            <a:avLst/>
          </a:prstGeom>
        </p:spPr>
        <p:txBody>
          <a:bodyPr lIns="0" tIns="0" rIns="0" bIns="0" rtlCol="0" anchor="t">
            <a:spAutoFit/>
          </a:bodyPr>
          <a:lstStyle/>
          <a:p>
            <a:pPr marL="647705" lvl="1" indent="-323852" algn="l">
              <a:lnSpc>
                <a:spcPts val="4200"/>
              </a:lnSpc>
              <a:buFont typeface="Arial"/>
              <a:buChar char="•"/>
            </a:pPr>
            <a:r>
              <a:rPr lang="en-US" sz="3000">
                <a:solidFill>
                  <a:srgbClr val="1A466E"/>
                </a:solidFill>
                <a:latin typeface="Poppins"/>
                <a:ea typeface="Poppins"/>
                <a:cs typeface="Poppins"/>
                <a:sym typeface="Poppins"/>
              </a:rPr>
              <a:t>Desarrollar un sistema que centralice y organice los datos operativos de PROCINAL, facilitando la administración de sus sedes, salas, empleados, películas y proyecciones a nivel nacional.</a:t>
            </a:r>
          </a:p>
          <a:p>
            <a:pPr marL="647705" lvl="1" indent="-323852" algn="l">
              <a:lnSpc>
                <a:spcPts val="4200"/>
              </a:lnSpc>
              <a:buFont typeface="Arial"/>
              <a:buChar char="•"/>
            </a:pPr>
            <a:r>
              <a:rPr lang="en-US" sz="3000">
                <a:solidFill>
                  <a:srgbClr val="1A466E"/>
                </a:solidFill>
                <a:latin typeface="Poppins"/>
                <a:ea typeface="Poppins"/>
                <a:cs typeface="Poppins"/>
                <a:sym typeface="Poppins"/>
              </a:rPr>
              <a:t>Administrar las sedes de la cadena vinculándolas a sus respectivas ciudades y centralizando su información para facilitar el control operativo.</a:t>
            </a:r>
          </a:p>
          <a:p>
            <a:pPr marL="647705" lvl="1" indent="-323852" algn="l">
              <a:lnSpc>
                <a:spcPts val="4200"/>
              </a:lnSpc>
              <a:buFont typeface="Arial"/>
              <a:buChar char="•"/>
            </a:pPr>
            <a:r>
              <a:rPr lang="en-US" sz="3000">
                <a:solidFill>
                  <a:srgbClr val="1A466E"/>
                </a:solidFill>
                <a:latin typeface="Poppins"/>
                <a:ea typeface="Poppins"/>
                <a:cs typeface="Poppins"/>
                <a:sym typeface="Poppins"/>
              </a:rPr>
              <a:t>Registrar el personal de cada punto de venta, distinguiendo a los administradores y asegurando que cada empleado tenga una sala asignada dentro de su sede.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TextBox 40"/>
          <p:cNvSpPr txBox="1"/>
          <p:nvPr/>
        </p:nvSpPr>
        <p:spPr>
          <a:xfrm>
            <a:off x="2463822" y="895350"/>
            <a:ext cx="13360357" cy="1151251"/>
          </a:xfrm>
          <a:prstGeom prst="rect">
            <a:avLst/>
          </a:prstGeom>
        </p:spPr>
        <p:txBody>
          <a:bodyPr lIns="0" tIns="0" rIns="0" bIns="0" rtlCol="0" anchor="t">
            <a:spAutoFit/>
          </a:bodyPr>
          <a:lstStyle/>
          <a:p>
            <a:pPr marL="0" lvl="0" indent="0" algn="ctr">
              <a:lnSpc>
                <a:spcPts val="9100"/>
              </a:lnSpc>
              <a:spcBef>
                <a:spcPct val="0"/>
              </a:spcBef>
            </a:pPr>
            <a:r>
              <a:rPr lang="en-US" sz="6500" b="1">
                <a:solidFill>
                  <a:srgbClr val="1A466E"/>
                </a:solidFill>
                <a:latin typeface="Hagrid Text Bold"/>
                <a:ea typeface="Hagrid Text Bold"/>
                <a:cs typeface="Hagrid Text Bold"/>
                <a:sym typeface="Hagrid Text Bold"/>
              </a:rPr>
              <a:t>Reglas de negocio</a:t>
            </a:r>
          </a:p>
        </p:txBody>
      </p:sp>
      <p:sp>
        <p:nvSpPr>
          <p:cNvPr id="41" name="TextBox 41"/>
          <p:cNvSpPr txBox="1"/>
          <p:nvPr/>
        </p:nvSpPr>
        <p:spPr>
          <a:xfrm>
            <a:off x="2845462" y="3096170"/>
            <a:ext cx="12805747" cy="4962873"/>
          </a:xfrm>
          <a:prstGeom prst="rect">
            <a:avLst/>
          </a:prstGeom>
        </p:spPr>
        <p:txBody>
          <a:bodyPr lIns="0" tIns="0" rIns="0" bIns="0" rtlCol="0" anchor="t">
            <a:spAutoFit/>
          </a:bodyPr>
          <a:lstStyle/>
          <a:p>
            <a:pPr algn="l">
              <a:lnSpc>
                <a:spcPts val="4878"/>
              </a:lnSpc>
            </a:pPr>
            <a:r>
              <a:rPr lang="en-US" sz="3484">
                <a:solidFill>
                  <a:srgbClr val="1A466E"/>
                </a:solidFill>
                <a:latin typeface="Poppins"/>
                <a:ea typeface="Poppins"/>
                <a:cs typeface="Poppins"/>
                <a:sym typeface="Poppins"/>
              </a:rPr>
              <a:t>1. Un empleado trabaja únicamente en un punto de venta y no existe rotación entre sedes.</a:t>
            </a:r>
          </a:p>
          <a:p>
            <a:pPr algn="l">
              <a:lnSpc>
                <a:spcPts val="4878"/>
              </a:lnSpc>
            </a:pPr>
            <a:r>
              <a:rPr lang="en-US" sz="3484">
                <a:solidFill>
                  <a:srgbClr val="1A466E"/>
                </a:solidFill>
                <a:latin typeface="Poppins"/>
                <a:ea typeface="Poppins"/>
                <a:cs typeface="Poppins"/>
                <a:sym typeface="Poppins"/>
              </a:rPr>
              <a:t>2. Cada empleado tiene asignada exactamente una sala, y cada sala tiene un único empleado encargado. </a:t>
            </a:r>
          </a:p>
          <a:p>
            <a:pPr algn="l">
              <a:lnSpc>
                <a:spcPts val="4878"/>
              </a:lnSpc>
            </a:pPr>
            <a:r>
              <a:rPr lang="en-US" sz="3484">
                <a:solidFill>
                  <a:srgbClr val="1A466E"/>
                </a:solidFill>
                <a:latin typeface="Poppins"/>
                <a:ea typeface="Poppins"/>
                <a:cs typeface="Poppins"/>
                <a:sym typeface="Poppins"/>
              </a:rPr>
              <a:t>3. Las salas VIP no proyectan películas comerciales; las proyecciones se registran solo para salas 2D y 3D. </a:t>
            </a:r>
          </a:p>
          <a:p>
            <a:pPr marL="0" lvl="0" indent="0" algn="l">
              <a:lnSpc>
                <a:spcPts val="4878"/>
              </a:lnSpc>
              <a:spcBef>
                <a:spcPct val="0"/>
              </a:spcBef>
            </a:pPr>
            <a:r>
              <a:rPr lang="en-US" sz="3484">
                <a:solidFill>
                  <a:srgbClr val="1A466E"/>
                </a:solidFill>
                <a:latin typeface="Poppins"/>
                <a:ea typeface="Poppins"/>
                <a:cs typeface="Poppins"/>
                <a:sym typeface="Poppins"/>
              </a:rPr>
              <a:t>4. Toda proyección debe tener una fecha válida y estar asociada tanto a una sala como a una película.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413046"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174883" y="9385217"/>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Freeform 40"/>
          <p:cNvSpPr/>
          <p:nvPr/>
        </p:nvSpPr>
        <p:spPr>
          <a:xfrm>
            <a:off x="3127770" y="1891539"/>
            <a:ext cx="12032459" cy="8046707"/>
          </a:xfrm>
          <a:custGeom>
            <a:avLst/>
            <a:gdLst/>
            <a:ahLst/>
            <a:cxnLst/>
            <a:rect l="l" t="t" r="r" b="b"/>
            <a:pathLst>
              <a:path w="12032459" h="8046707">
                <a:moveTo>
                  <a:pt x="0" y="0"/>
                </a:moveTo>
                <a:lnTo>
                  <a:pt x="12032460" y="0"/>
                </a:lnTo>
                <a:lnTo>
                  <a:pt x="12032460" y="8046707"/>
                </a:lnTo>
                <a:lnTo>
                  <a:pt x="0" y="8046707"/>
                </a:lnTo>
                <a:lnTo>
                  <a:pt x="0" y="0"/>
                </a:lnTo>
                <a:close/>
              </a:path>
            </a:pathLst>
          </a:custGeom>
          <a:blipFill>
            <a:blip r:embed="rId5"/>
            <a:stretch>
              <a:fillRect/>
            </a:stretch>
          </a:blipFill>
        </p:spPr>
        <p:txBody>
          <a:bodyPr/>
          <a:lstStyle/>
          <a:p>
            <a:endParaRPr lang="en-US"/>
          </a:p>
        </p:txBody>
      </p:sp>
      <p:sp>
        <p:nvSpPr>
          <p:cNvPr id="41" name="TextBox 41"/>
          <p:cNvSpPr txBox="1"/>
          <p:nvPr/>
        </p:nvSpPr>
        <p:spPr>
          <a:xfrm>
            <a:off x="1098219" y="547133"/>
            <a:ext cx="16091561" cy="1151251"/>
          </a:xfrm>
          <a:prstGeom prst="rect">
            <a:avLst/>
          </a:prstGeom>
        </p:spPr>
        <p:txBody>
          <a:bodyPr lIns="0" tIns="0" rIns="0" bIns="0" rtlCol="0" anchor="t">
            <a:spAutoFit/>
          </a:bodyPr>
          <a:lstStyle/>
          <a:p>
            <a:pPr marL="0" lvl="0" indent="0" algn="ctr">
              <a:lnSpc>
                <a:spcPts val="9100"/>
              </a:lnSpc>
              <a:spcBef>
                <a:spcPct val="0"/>
              </a:spcBef>
            </a:pPr>
            <a:r>
              <a:rPr lang="en-US" sz="6500" b="1">
                <a:solidFill>
                  <a:srgbClr val="1A466E"/>
                </a:solidFill>
                <a:latin typeface="Hagrid Text Bold"/>
                <a:ea typeface="Hagrid Text Bold"/>
                <a:cs typeface="Hagrid Text Bold"/>
                <a:sym typeface="Hagrid Text Bold"/>
              </a:rPr>
              <a:t>Modelo Entidad Relación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982275" y="-2982275"/>
            <a:ext cx="5964550" cy="59645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5" name="Group 5"/>
          <p:cNvGrpSpPr/>
          <p:nvPr/>
        </p:nvGrpSpPr>
        <p:grpSpPr>
          <a:xfrm rot="-5400000">
            <a:off x="-1993709" y="-1993709"/>
            <a:ext cx="3987419" cy="39874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4D6C80"/>
              </a:solidFill>
              <a:prstDash val="solid"/>
              <a:miter/>
            </a:ln>
          </p:spPr>
          <p:txBody>
            <a:bodyPr/>
            <a:lstStyle/>
            <a:p>
              <a:endParaRPr lang="en-US"/>
            </a:p>
          </p:txBody>
        </p:sp>
        <p:sp>
          <p:nvSpPr>
            <p:cNvPr id="7" name="TextBox 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8" name="Group 8"/>
          <p:cNvGrpSpPr/>
          <p:nvPr/>
        </p:nvGrpSpPr>
        <p:grpSpPr>
          <a:xfrm rot="-5400000">
            <a:off x="-1493742" y="-1493742"/>
            <a:ext cx="2987485" cy="29874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0" name="TextBox 10"/>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1" name="Group 11"/>
          <p:cNvGrpSpPr/>
          <p:nvPr/>
        </p:nvGrpSpPr>
        <p:grpSpPr>
          <a:xfrm rot="-5400000">
            <a:off x="15525055" y="7428805"/>
            <a:ext cx="5716389" cy="57163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D6C80"/>
              </a:solid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4" name="Group 14"/>
          <p:cNvGrpSpPr/>
          <p:nvPr/>
        </p:nvGrpSpPr>
        <p:grpSpPr>
          <a:xfrm rot="-5400000">
            <a:off x="16360481" y="8376241"/>
            <a:ext cx="3821519" cy="38215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17" name="Group 17"/>
          <p:cNvGrpSpPr/>
          <p:nvPr/>
        </p:nvGrpSpPr>
        <p:grpSpPr>
          <a:xfrm rot="-5400000">
            <a:off x="16839647" y="8855406"/>
            <a:ext cx="2863188" cy="28631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19" name="TextBox 19"/>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0" name="Group 20"/>
          <p:cNvGrpSpPr/>
          <p:nvPr/>
        </p:nvGrpSpPr>
        <p:grpSpPr>
          <a:xfrm rot="-5400000">
            <a:off x="2485270" y="940932"/>
            <a:ext cx="497004" cy="497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2" name="TextBox 22"/>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grpSp>
        <p:nvGrpSpPr>
          <p:cNvPr id="23" name="Group 23"/>
          <p:cNvGrpSpPr/>
          <p:nvPr/>
        </p:nvGrpSpPr>
        <p:grpSpPr>
          <a:xfrm rot="-5400000">
            <a:off x="15445738" y="9382488"/>
            <a:ext cx="476326" cy="47632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C80"/>
            </a:solidFill>
          </p:spPr>
          <p:txBody>
            <a:bodyPr/>
            <a:lstStyle/>
            <a:p>
              <a:endParaRPr lang="en-US"/>
            </a:p>
          </p:txBody>
        </p:sp>
        <p:sp>
          <p:nvSpPr>
            <p:cNvPr id="25" name="TextBox 25"/>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26" name="Freeform 26"/>
          <p:cNvSpPr/>
          <p:nvPr/>
        </p:nvSpPr>
        <p:spPr>
          <a:xfrm rot="-10800000">
            <a:off x="17591687" y="4372108"/>
            <a:ext cx="2224424" cy="1542785"/>
          </a:xfrm>
          <a:custGeom>
            <a:avLst/>
            <a:gdLst/>
            <a:ahLst/>
            <a:cxnLst/>
            <a:rect l="l" t="t" r="r" b="b"/>
            <a:pathLst>
              <a:path w="2224424" h="1542785">
                <a:moveTo>
                  <a:pt x="0" y="0"/>
                </a:moveTo>
                <a:lnTo>
                  <a:pt x="2224423" y="0"/>
                </a:lnTo>
                <a:lnTo>
                  <a:pt x="2224423"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sp>
        <p:nvSpPr>
          <p:cNvPr id="27" name="Freeform 27"/>
          <p:cNvSpPr/>
          <p:nvPr/>
        </p:nvSpPr>
        <p:spPr>
          <a:xfrm rot="-10800000">
            <a:off x="-1641424" y="4372108"/>
            <a:ext cx="2224424" cy="1542785"/>
          </a:xfrm>
          <a:custGeom>
            <a:avLst/>
            <a:gdLst/>
            <a:ahLst/>
            <a:cxnLst/>
            <a:rect l="l" t="t" r="r" b="b"/>
            <a:pathLst>
              <a:path w="2224424" h="1542785">
                <a:moveTo>
                  <a:pt x="0" y="0"/>
                </a:moveTo>
                <a:lnTo>
                  <a:pt x="2224424" y="0"/>
                </a:lnTo>
                <a:lnTo>
                  <a:pt x="2224424" y="1542784"/>
                </a:lnTo>
                <a:lnTo>
                  <a:pt x="0" y="1542784"/>
                </a:lnTo>
                <a:lnTo>
                  <a:pt x="0" y="0"/>
                </a:lnTo>
                <a:close/>
              </a:path>
            </a:pathLst>
          </a:custGeom>
          <a:blipFill>
            <a:blip>
              <a:extLst>
                <a:ext uri="{96DAC541-7B7A-43D3-8B79-37D633B846F1}">
                  <asvg:svgBlip xmlns:asvg="http://schemas.microsoft.com/office/drawing/2016/SVG/main" r:embed="rId2"/>
                </a:ext>
              </a:extLst>
            </a:blip>
            <a:stretch>
              <a:fillRect b="-42609"/>
            </a:stretch>
          </a:blipFill>
        </p:spPr>
        <p:txBody>
          <a:bodyPr/>
          <a:lstStyle/>
          <a:p>
            <a:endParaRPr lang="en-US"/>
          </a:p>
        </p:txBody>
      </p:sp>
      <p:grpSp>
        <p:nvGrpSpPr>
          <p:cNvPr id="28" name="Group 28"/>
          <p:cNvGrpSpPr/>
          <p:nvPr/>
        </p:nvGrpSpPr>
        <p:grpSpPr>
          <a:xfrm>
            <a:off x="16108321" y="-1631633"/>
            <a:ext cx="4549858" cy="4327478"/>
            <a:chOff x="0" y="0"/>
            <a:chExt cx="6066477" cy="5769971"/>
          </a:xfrm>
        </p:grpSpPr>
        <p:grpSp>
          <p:nvGrpSpPr>
            <p:cNvPr id="29" name="Group 29"/>
            <p:cNvGrpSpPr/>
            <p:nvPr/>
          </p:nvGrpSpPr>
          <p:grpSpPr>
            <a:xfrm rot="-5400000">
              <a:off x="547841" y="0"/>
              <a:ext cx="5518637" cy="551863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1" name="TextBox 31"/>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2" name="Freeform 32"/>
            <p:cNvSpPr/>
            <p:nvPr/>
          </p:nvSpPr>
          <p:spPr>
            <a:xfrm rot="-10800000">
              <a:off x="0" y="3120778"/>
              <a:ext cx="5279190" cy="2649193"/>
            </a:xfrm>
            <a:custGeom>
              <a:avLst/>
              <a:gdLst/>
              <a:ahLst/>
              <a:cxnLst/>
              <a:rect l="l" t="t" r="r" b="b"/>
              <a:pathLst>
                <a:path w="5279190" h="2649193">
                  <a:moveTo>
                    <a:pt x="0" y="0"/>
                  </a:moveTo>
                  <a:lnTo>
                    <a:pt x="5279190" y="0"/>
                  </a:lnTo>
                  <a:lnTo>
                    <a:pt x="5279190"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33"/>
            <p:cNvSpPr/>
            <p:nvPr/>
          </p:nvSpPr>
          <p:spPr>
            <a:xfrm rot="-5400000">
              <a:off x="1686240" y="874479"/>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4" name="Group 34"/>
          <p:cNvGrpSpPr/>
          <p:nvPr/>
        </p:nvGrpSpPr>
        <p:grpSpPr>
          <a:xfrm>
            <a:off x="-2370179" y="7695075"/>
            <a:ext cx="4549858" cy="4327478"/>
            <a:chOff x="0" y="0"/>
            <a:chExt cx="6066477" cy="5769971"/>
          </a:xfrm>
        </p:grpSpPr>
        <p:grpSp>
          <p:nvGrpSpPr>
            <p:cNvPr id="35" name="Group 35"/>
            <p:cNvGrpSpPr/>
            <p:nvPr/>
          </p:nvGrpSpPr>
          <p:grpSpPr>
            <a:xfrm rot="5400000">
              <a:off x="0" y="251334"/>
              <a:ext cx="5518637" cy="551863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4D6C80"/>
                </a:solidFill>
                <a:prstDash val="solid"/>
                <a:miter/>
              </a:ln>
            </p:spPr>
            <p:txBody>
              <a:bodyPr/>
              <a:lstStyle/>
              <a:p>
                <a:endParaRPr lang="en-US"/>
              </a:p>
            </p:txBody>
          </p:sp>
          <p:sp>
            <p:nvSpPr>
              <p:cNvPr id="37" name="TextBox 37"/>
              <p:cNvSpPr txBox="1"/>
              <p:nvPr/>
            </p:nvSpPr>
            <p:spPr>
              <a:xfrm>
                <a:off x="76200" y="57150"/>
                <a:ext cx="660400" cy="679450"/>
              </a:xfrm>
              <a:prstGeom prst="rect">
                <a:avLst/>
              </a:prstGeom>
            </p:spPr>
            <p:txBody>
              <a:bodyPr lIns="34057" tIns="34057" rIns="34057" bIns="34057" rtlCol="0" anchor="ctr"/>
              <a:lstStyle/>
              <a:p>
                <a:pPr algn="ctr">
                  <a:lnSpc>
                    <a:spcPts val="1313"/>
                  </a:lnSpc>
                  <a:spcBef>
                    <a:spcPct val="0"/>
                  </a:spcBef>
                </a:pPr>
                <a:endParaRPr/>
              </a:p>
            </p:txBody>
          </p:sp>
        </p:grpSp>
        <p:sp>
          <p:nvSpPr>
            <p:cNvPr id="38" name="Freeform 38"/>
            <p:cNvSpPr/>
            <p:nvPr/>
          </p:nvSpPr>
          <p:spPr>
            <a:xfrm>
              <a:off x="787288" y="0"/>
              <a:ext cx="5279190" cy="2649193"/>
            </a:xfrm>
            <a:custGeom>
              <a:avLst/>
              <a:gdLst/>
              <a:ahLst/>
              <a:cxnLst/>
              <a:rect l="l" t="t" r="r" b="b"/>
              <a:pathLst>
                <a:path w="5279190" h="2649193">
                  <a:moveTo>
                    <a:pt x="0" y="0"/>
                  </a:moveTo>
                  <a:lnTo>
                    <a:pt x="5279189" y="0"/>
                  </a:lnTo>
                  <a:lnTo>
                    <a:pt x="5279189" y="2649193"/>
                  </a:lnTo>
                  <a:lnTo>
                    <a:pt x="0" y="26491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9" name="Freeform 39"/>
            <p:cNvSpPr/>
            <p:nvPr/>
          </p:nvSpPr>
          <p:spPr>
            <a:xfrm rot="5400000">
              <a:off x="1686240" y="2201496"/>
              <a:ext cx="2693997" cy="2693997"/>
            </a:xfrm>
            <a:custGeom>
              <a:avLst/>
              <a:gdLst/>
              <a:ahLst/>
              <a:cxnLst/>
              <a:rect l="l" t="t" r="r" b="b"/>
              <a:pathLst>
                <a:path w="2693997" h="2693997">
                  <a:moveTo>
                    <a:pt x="0" y="0"/>
                  </a:moveTo>
                  <a:lnTo>
                    <a:pt x="2693997" y="0"/>
                  </a:lnTo>
                  <a:lnTo>
                    <a:pt x="2693997" y="2693997"/>
                  </a:lnTo>
                  <a:lnTo>
                    <a:pt x="0" y="2693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40" name="Freeform 40"/>
          <p:cNvSpPr/>
          <p:nvPr/>
        </p:nvSpPr>
        <p:spPr>
          <a:xfrm>
            <a:off x="2915074" y="1780443"/>
            <a:ext cx="12457853" cy="8268900"/>
          </a:xfrm>
          <a:custGeom>
            <a:avLst/>
            <a:gdLst/>
            <a:ahLst/>
            <a:cxnLst/>
            <a:rect l="l" t="t" r="r" b="b"/>
            <a:pathLst>
              <a:path w="12457853" h="8268900">
                <a:moveTo>
                  <a:pt x="0" y="0"/>
                </a:moveTo>
                <a:lnTo>
                  <a:pt x="12457852" y="0"/>
                </a:lnTo>
                <a:lnTo>
                  <a:pt x="12457852" y="8268899"/>
                </a:lnTo>
                <a:lnTo>
                  <a:pt x="0" y="8268899"/>
                </a:lnTo>
                <a:lnTo>
                  <a:pt x="0" y="0"/>
                </a:lnTo>
                <a:close/>
              </a:path>
            </a:pathLst>
          </a:custGeom>
          <a:blipFill>
            <a:blip r:embed="rId5"/>
            <a:stretch>
              <a:fillRect/>
            </a:stretch>
          </a:blipFill>
        </p:spPr>
        <p:txBody>
          <a:bodyPr/>
          <a:lstStyle/>
          <a:p>
            <a:endParaRPr lang="en-US"/>
          </a:p>
        </p:txBody>
      </p:sp>
      <p:sp>
        <p:nvSpPr>
          <p:cNvPr id="41" name="TextBox 41"/>
          <p:cNvSpPr txBox="1"/>
          <p:nvPr/>
        </p:nvSpPr>
        <p:spPr>
          <a:xfrm>
            <a:off x="2365936" y="398757"/>
            <a:ext cx="13556128" cy="1151251"/>
          </a:xfrm>
          <a:prstGeom prst="rect">
            <a:avLst/>
          </a:prstGeom>
        </p:spPr>
        <p:txBody>
          <a:bodyPr lIns="0" tIns="0" rIns="0" bIns="0" rtlCol="0" anchor="t">
            <a:spAutoFit/>
          </a:bodyPr>
          <a:lstStyle/>
          <a:p>
            <a:pPr marL="0" lvl="0" indent="0" algn="ctr">
              <a:lnSpc>
                <a:spcPts val="9100"/>
              </a:lnSpc>
              <a:spcBef>
                <a:spcPct val="0"/>
              </a:spcBef>
            </a:pPr>
            <a:r>
              <a:rPr lang="en-US" sz="6500" b="1">
                <a:solidFill>
                  <a:srgbClr val="1A466E"/>
                </a:solidFill>
                <a:latin typeface="Hagrid Text Bold"/>
                <a:ea typeface="Hagrid Text Bold"/>
                <a:cs typeface="Hagrid Text Bold"/>
                <a:sym typeface="Hagrid Text Bold"/>
              </a:rPr>
              <a:t>Modelo Relacional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348</Words>
  <Application>Microsoft Office PowerPoint</Application>
  <PresentationFormat>Custom</PresentationFormat>
  <Paragraphs>32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Poppins</vt:lpstr>
      <vt:lpstr>Calibri</vt:lpstr>
      <vt:lpstr>Hagrid Text Bold</vt:lpstr>
      <vt:lpstr>Poppins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Proyecto Profesional Geométrico Azul y Blanco</dc:title>
  <dc:creator>Sebastian</dc:creator>
  <cp:lastModifiedBy>Sebastián Torres</cp:lastModifiedBy>
  <cp:revision>1</cp:revision>
  <dcterms:created xsi:type="dcterms:W3CDTF">2006-08-16T00:00:00Z</dcterms:created>
  <dcterms:modified xsi:type="dcterms:W3CDTF">2026-05-16T20:58:50Z</dcterms:modified>
  <dc:identifier>DAHJ2w1oXkQ</dc:identifier>
</cp:coreProperties>
</file>